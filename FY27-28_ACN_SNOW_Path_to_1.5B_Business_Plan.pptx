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0000" y="1200000"/>
            <a:ext cx="8144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B5E8"/>
                </a:solidFill>
                <a:latin typeface="Calibri"/>
              </a:defRPr>
            </a:pPr>
            <a:r>
              <a:t>Snowflake x Accenture FY27-28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900000"/>
            <a:ext cx="81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Path to $1B+ | Sustain &amp;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500000"/>
            <a:ext cx="81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Calibri"/>
              </a:defRPr>
            </a:pPr>
            <a:r>
              <a:t>From Milestone to Market Dominance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300000"/>
            <a:ext cx="814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March 2026 |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0000" y="3000000"/>
            <a:ext cx="41440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00000" cy="51435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00000" y="300000"/>
            <a:ext cx="2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PARTNERSHIP</a:t>
            </a:r>
            <a:br/>
            <a:r>
              <a:t>BUSINESS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900000"/>
            <a:ext cx="26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This deck outlines our refreshed strategy to sustain and scale beyond $1B.</a:t>
            </a:r>
            <a:br/>
            <a:br/>
            <a:r>
              <a:t>Building on FY26's momentum, we introduce bold plays in Agentic AI, Industry Data Clouds, and Ecosystem Orchestration.</a:t>
            </a:r>
            <a:br/>
            <a:br/>
            <a:r>
              <a:t>Questions? Reach out to:</a:t>
            </a:r>
            <a:br/>
            <a:r>
              <a:t>(SNOW) #team_accenture_global</a:t>
            </a:r>
            <a:br/>
            <a:r>
              <a:t>(ACN) Global Alliance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000" y="25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000" y="31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FY26 Scorecard &amp; Reflection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000" y="69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000" y="75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Market &amp; TAM Evolution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000" y="113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000" y="119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Bold Growth Plays for FY27-28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000" y="157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000" y="163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Agentic AI &amp; Cortex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000" y="201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000" y="207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Industry Data Cloud 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000" y="245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000" y="251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Power of Three 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000" y="289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000" y="295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Regional Execution Plans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000" y="333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000" y="339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COE &amp; Practice Scaling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000" y="377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000" y="383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Revenue Waterfall to $1.5B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000" y="4210000"/>
            <a:ext cx="700000" cy="35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000" y="427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Governance &amp; Mobilization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FY26 Scorecard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Where We've Been — Lessons, Wins &amp;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FY26 Results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000" y="800000"/>
            <a:ext cx="2050000" cy="140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00000" y="900000"/>
            <a:ext cx="1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$812M+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13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ACN Bookings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16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80% toward $1B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0000" y="800000"/>
            <a:ext cx="2050000" cy="14000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500000" y="900000"/>
            <a:ext cx="1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$72M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000" y="13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SNOW TACV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0" y="16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vs $48M prior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0000" y="800000"/>
            <a:ext cx="2050000" cy="14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700000" y="900000"/>
            <a:ext cx="1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218+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0" y="13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 Cases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0" y="16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Across 86 Diamond accounts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0000" y="800000"/>
            <a:ext cx="2050000" cy="140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00000" y="900000"/>
            <a:ext cx="18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0000" y="13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Certifications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0000" y="1650000"/>
            <a:ext cx="18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Calibri"/>
              </a:defRPr>
            </a:pPr>
            <a:r>
              <a:t>Net-new SnowPro certs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000" y="25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Key Wins &amp; Momentum Builders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00000" y="2800000"/>
          <a:ext cx="87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00"/>
                <a:gridCol w="2175000"/>
                <a:gridCol w="2175000"/>
                <a:gridCol w="2175000"/>
              </a:tblGrid>
              <a:tr h="3333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Win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Lesson Forward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NatWest SAS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$46M TACV anchor 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Replicate migration factory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AIG Data Engineering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Cloudera migration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Package as horizontal offering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BMW + Siemens AI/ML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Manufacturing AI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Industry-first GTM 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BHP Data Platform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Resource sector expansion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Mining vertical playbook needed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33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CMS IDE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data modernization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Power of 3 with AWS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FY26 Partnership Retrospective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000" y="750000"/>
            <a:ext cx="4300000" cy="5500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WORKED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00" y="1350000"/>
            <a:ext cx="4300000" cy="3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Migration Factory model drove 60% of new TACV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Power of 3 (AWS) unlocked 3x larger deal sizes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Diamond account focus: 86 activated accounts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AI Refinery narrative resonated with C-suite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SKO &amp; World Tour events drove strong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3,000+ certifications built credibility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Industry-first GTM in FSI &amp; Manufacturing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Joint innovation workshops at anchor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750000"/>
            <a:ext cx="4300000" cy="550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850000" y="78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GAPS TO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0000" y="1350000"/>
            <a:ext cx="4300000" cy="3500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SNOW AI messaging lags Databricks with ACN CALs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Only 28% of Diamonds activated — 72% whitespace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EMEA &amp; APJ under-invested vs. Americas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Co-sell ground game inconsistent across regions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Deal &amp; service registration friction persists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H&amp;PS and Resources verticals under-penetrated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Agentic AI positioning not yet differentiated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CSP neutrality perception still a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&amp; TAM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The $500B Data &amp; AI Market — Why the Moment 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Data &amp; AI Services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8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B1D3A"/>
                </a:solidFill>
                <a:latin typeface="Calibri"/>
              </a:defRPr>
            </a:pPr>
            <a:r>
              <a:t>Snowflake is targeting a $500B+ Total Addressable Market, with 3-Year CAGR of 35%+ — the highest among public cloud data companies.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1200000"/>
            <a:ext cx="2050000" cy="110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80000" y="1250000"/>
            <a:ext cx="1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$500B+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16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Total Addressable</a:t>
            </a:r>
            <a:br/>
            <a:r>
              <a:t>Market by 2028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0000" y="1200000"/>
            <a:ext cx="2050000" cy="11000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480000" y="1250000"/>
            <a:ext cx="1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$4.2B+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0000" y="16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Snowflake Product</a:t>
            </a:r>
            <a:br/>
            <a:r>
              <a:t>Revenue FY26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0000" y="1200000"/>
            <a:ext cx="2050000" cy="11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680000" y="1250000"/>
            <a:ext cx="1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16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3-Year Revenue</a:t>
            </a:r>
            <a:br/>
            <a:r>
              <a:t>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0000" y="1200000"/>
            <a:ext cx="2050000" cy="110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880000" y="1250000"/>
            <a:ext cx="1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0000" y="16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ACN-SNOW</a:t>
            </a:r>
            <a:br/>
            <a:r>
              <a:t>Partnership Target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00000" y="2600000"/>
          <a:ext cx="87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</a:tblGrid>
              <a:tr h="36666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Shift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Partnership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Play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AI mainstream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Enterprises need trusted agent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Refinery 2.0 + Cortex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Gravity moving to clouds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Legacy migration wave accelerating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Factory scales globally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Governance &amp; regulation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governance = board-level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Snowflake Horizon + ACN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Industry-specific AI solutions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Vertical wins &gt; horizontal features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Industry Data Cloud solutions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666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Multi-cloud becomes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CSP-agnostic data platforms 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Power of 3 across AWS/Azure/GCP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Bold Growth Plays for FY27-28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5 Transformative Bets to Sustain $1B+ and Reach $1.5B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5 Bold Growth Plays | FY27-28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000" y="750000"/>
            <a:ext cx="1720000" cy="410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00000" y="800000"/>
            <a:ext cx="1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" y="1200000"/>
            <a:ext cx="156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AGENTIC AI</a:t>
            </a:r>
            <a:br/>
            <a:r>
              <a:t>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" y="2000000"/>
            <a:ext cx="15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EEEEE"/>
                </a:solidFill>
                <a:latin typeface="Calibri"/>
              </a:defRPr>
            </a:pPr>
            <a:r>
              <a:t>Scale AI Refinery 2.0</a:t>
            </a:r>
            <a:br/>
            <a:r>
              <a:t>with Cortex Agents</a:t>
            </a:r>
            <a:br/>
            <a:r>
              <a:t>across 50+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000" y="750000"/>
            <a:ext cx="1720000" cy="41000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000000" y="800000"/>
            <a:ext cx="1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1200000"/>
            <a:ext cx="156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INDUSTRY DATA</a:t>
            </a:r>
            <a:br/>
            <a:r>
              <a:t>CLOUD BLITZ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000000"/>
            <a:ext cx="15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EEEEE"/>
                </a:solidFill>
                <a:latin typeface="Calibri"/>
              </a:defRPr>
            </a:pPr>
            <a:r>
              <a:t>6 vertical solutions</a:t>
            </a:r>
            <a:br/>
            <a:r>
              <a:t>with native apps</a:t>
            </a:r>
            <a:br/>
            <a:r>
              <a:t>&amp; marketplace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0000" y="750000"/>
            <a:ext cx="1720000" cy="41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00000" y="800000"/>
            <a:ext cx="1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000" y="1200000"/>
            <a:ext cx="156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MIGRATION</a:t>
            </a:r>
            <a:br/>
            <a:r>
              <a:t>MEGA-WAVE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000" y="2000000"/>
            <a:ext cx="15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EEEEE"/>
                </a:solidFill>
                <a:latin typeface="Calibri"/>
              </a:defRPr>
            </a:pPr>
            <a:r>
              <a:t>Target $300M in</a:t>
            </a:r>
            <a:br/>
            <a:r>
              <a:t>legacy-to-Snowflake</a:t>
            </a:r>
            <a:br/>
            <a:r>
              <a:t>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0000" y="750000"/>
            <a:ext cx="1720000" cy="410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600000" y="800000"/>
            <a:ext cx="1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0" y="1200000"/>
            <a:ext cx="156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DIAMOND</a:t>
            </a:r>
            <a:br/>
            <a:r>
              <a:t>SATURATION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2000000"/>
            <a:ext cx="15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EEEEE"/>
                </a:solidFill>
                <a:latin typeface="Calibri"/>
              </a:defRPr>
            </a:pPr>
            <a:r>
              <a:t>Activate 200+ of 307</a:t>
            </a:r>
            <a:br/>
            <a:r>
              <a:t>Diamond accounts</a:t>
            </a:r>
            <a:br/>
            <a:r>
              <a:t>(65% penetration)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0000" y="750000"/>
            <a:ext cx="1720000" cy="41000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400000" y="800000"/>
            <a:ext cx="1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000" y="1200000"/>
            <a:ext cx="156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ECOSYSTEM</a:t>
            </a:r>
            <a:br/>
            <a:r>
              <a:t>FLYWHEEL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000" y="2000000"/>
            <a:ext cx="156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EEEEE"/>
                </a:solidFill>
                <a:latin typeface="Calibri"/>
              </a:defRPr>
            </a:pPr>
            <a:r>
              <a:t>Power of 3 v2.0</a:t>
            </a:r>
            <a:br/>
            <a:r>
              <a:t>with AWS + Azure</a:t>
            </a:r>
            <a:br/>
            <a:r>
              <a:t>+ SAP + SFDC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 #1: Agentic AI Factory — Cortex-Powered Enterprise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950000"/>
            <a:ext cx="4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Create an industrialized 'Agentic AI Factory' combining Accenture's AI Refinery with Snowflake Cortex to deliver pre-built, governed AI agents at scale. Position ACN+SNOW as the only partnership that can deploy trusted AI agents from data to production in 6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0" y="70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Revenue Impact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00000" y="1000000"/>
          <a:ext cx="42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400000"/>
                <a:gridCol w="1400000"/>
              </a:tblGrid>
              <a:tr h="20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deployments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150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Average deal size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TACV contribution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Consumption uplift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 per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5x per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0000" y="20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Creative Execution Ideas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0000" y="2300000"/>
          <a:ext cx="87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00"/>
                <a:gridCol w="2175000"/>
                <a:gridCol w="2175000"/>
                <a:gridCol w="2175000"/>
              </a:tblGrid>
              <a:tr h="41666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Pre-built Cortex agents for top 10 use cases (Claims, Supply Chain, Marketing, HR, Finance)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Q1-Q2 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COE +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AI Hackathons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hack events at Diamond clients: build agents in 48hrs using Cortex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+ Marketing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Trusted Agent Certification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SnowPro specialty cert for Agentic AI — target 500 ACN consultants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Q2 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Enablement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C-Suite Agent Experience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Executive briefing center demo: show a live agent solving their industry problem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 FY27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GTM + Solutions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66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ROI Calculator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Self-service tool: quantify agent value by industry vertical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 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 #2: Industry Data Cloud Blitz — Vertical-First 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8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Launch 6 Industry Data Cloud solutions as native Snowflake apps, each with a dedicated GTM motion, anchor customer, and consumption-based pricing. Shift from horizontal to vertical dominance.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00" y="1200000"/>
          <a:ext cx="87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1450000"/>
                <a:gridCol w="1450000"/>
                <a:gridCol w="1450000"/>
                <a:gridCol w="1450000"/>
                <a:gridCol w="1450000"/>
              </a:tblGrid>
              <a:tr h="28571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Industry Cloud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Native App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Anchor Customers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TAM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8571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FSI Claims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Claims AI 2.0 + Fraud Detection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AIG, Hartford, Chubb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1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Life Sciences Clinical AI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CSIG + Trial Analytics + Regulatory AI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Pfizer, Roche, AstraZeneca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$6B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8571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Manufacturing Digital Twin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Shop Floor 2.0 + Predictive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BMW, Siemens, Caterpillar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1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Retail Relevance Engine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Personalization + Supply Chain AI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Mars, Nestle, Marriott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$5B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8571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Energy Grid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Asset Optimization + Carbon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Vistra, EDF, PPL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 Sector GovCloud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FedGenius + Compliance Automation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CMS, DoD, US Courts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$3B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0000" y="34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Creative Differentiator: "Industry in a Box"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" y="3700000"/>
            <a:ext cx="87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Each Industry Data Cloud comes pre-packaged with: Reference Architecture | Demo Environment | First Call Deck | Battle Card | ROI Model | 3 Pre-built Use Cases | Anchor Customer Story | Dedicated Industry Squad (ACN + SNOW). Deploy-ready in 4 weeks vs. 12+ weeks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 #3: Migration Mega-Wave — $300M Legacy Modernization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950000"/>
            <a:ext cx="4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70% of enterprises still run critical workloads on legacy platforms (Teradata, SAS, Hadoop, Oracle, SAP BW). Our NatWest success proves the Migration Factory model works. Now scale it globally with AI-powered migration tooling — SnowConvert + Agentic code translation.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0" y="70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Migration Targets by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00000" y="1000000"/>
          <a:ext cx="42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000"/>
                <a:gridCol w="1050000"/>
                <a:gridCol w="1050000"/>
                <a:gridCol w="1050000"/>
              </a:tblGrid>
              <a:tr h="22857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Platform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Market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Migrations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Deal Size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28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Teradata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$50B installed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SAS / SAS Viya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$3B annual spend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accounts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$3-8M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28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Hadoop / Cloudera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$2B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Oracle Exadata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$15B installed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 accounts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$4-10M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28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SAP BW/HANA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$8B SAP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$3-8M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57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On-prem SQL/Netezza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$5B legacy DW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 accounts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0000" y="21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Creative: "Zero-Risk Migration Guarantee"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2400000"/>
            <a:ext cx="8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Offer a money-back guarantee on Phase 1 migrations (assessment + POC) — funded by Snowflake MDF + ACN investment. If the client doesn't see 30%+ TCO reduction in the first 90 days, the assessment is free.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0000" y="2900000"/>
          <a:ext cx="87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</a:tblGrid>
              <a:tr h="31666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Creative Initiative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AI-Powered Code 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Cortex LLMs to auto-convert SAS/Teradata/Oracle to Snowpark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 faster migrations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Migration-as-a-Service (MaaS)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Subscription model: ongoing migration + managed modernization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Recurring $2-5M/yr per client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Executive Migration Summits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C-suite events: "Legacy is the New Risk" narrative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20+ qualified leads per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Leaderboard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Gamified internal competition across ACN regions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 pipeline velocity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166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Partner Migration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Joint $10M fund for migration POCs and accelerators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 POCs per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 #4: Diamond Saturation — 200+ Accounts Activated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8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  <a:latin typeface="Calibri"/>
              </a:defRPr>
            </a:pPr>
            <a:r>
              <a:t>Only 28% of ACN's 307 Diamond accounts are active with Snowflake today. The biggest growth lever is activating the remaining 72% — an incremental $400M+ opportunity.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00" y="1200000"/>
          <a:ext cx="87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1450000"/>
                <a:gridCol w="1450000"/>
                <a:gridCol w="1450000"/>
                <a:gridCol w="1450000"/>
                <a:gridCol w="1450000"/>
              </a:tblGrid>
              <a:tr h="20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Diamonds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 FY26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 to Close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 (32%)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 (60%)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110 (77%)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EMEA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 (20%)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 (51%)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 (74%)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+58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Asia Pacific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 (37%)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 (61%)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 (79%)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307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 (28%)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175 (57%)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 (77%)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+147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0000" y="26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Creative Account Activation Playbook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0000" y="2900000"/>
          <a:ext cx="87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</a:tblGrid>
              <a:tr h="31666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"First 90 Days" Blitz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Pre-packaged activation kit for new accounts: discovery template, use case library, POC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 faster first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Account Twinning Program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Pair inactive Diamonds with successful reference accounts in same industry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activation 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 Incentive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Bonus structure for ACN Client Account Leads who activate Snowflake in their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 new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66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&amp; AI Health Check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 2-week assessment of client's data maturity with Snowflake benchmarks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75% conversion to paid engagement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166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Executive Sponsor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Map every Diamond CEO/CTO/CDAO to ACN+SNOW executive for quarterly touchpoints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Board-level sponsorship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 #5: Ecosystem Flywheel — Power of 3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8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Evolve from ad-hoc Power of 3 deals to a systematic Ecosystem Flywheel: every ACN Business Group (AWS, Azure, SAP, SFDC) has embedded Snowflake plays with pre-assembled commercial models.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00" y="1200000"/>
          <a:ext cx="87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00"/>
                <a:gridCol w="1740000"/>
                <a:gridCol w="1740000"/>
                <a:gridCol w="1740000"/>
                <a:gridCol w="1740000"/>
              </a:tblGrid>
              <a:tr h="2333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Group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 Status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FY27-28 Play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Pipeline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Accounts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(AABG)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Aligned on NatWest, DTCC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AI + Migration on 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NatWest, JPMC, CBA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(AMBG)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Establishing connections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RCG + Manufacturing on Azure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Caterpillar, Nestle, Ross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SAP (SBG)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Early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SAP BW Migration + Data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BMW, Siemens, Halliburton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Salesforce (SFBG)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C360 + Relevance Engine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Disney, Comcast, AT&amp;T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33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Google Cloud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Greenfield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Multi-cloud Analytics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Snap, Pinterest,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0000" y="28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Creative: "Ecosystem Multiplier"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0000" y="3100000"/>
          <a:ext cx="870000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</a:tblGrid>
              <a:tr h="2833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Multiplier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8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Pre-Built Commercial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3-way pricing templates pre-approved by legal for each BG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deal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Joint Innovation Labs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Permanent labs in NYC, London, Sydney with ACN+SNOW+CSP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5x qualified pipeline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8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Marketplace Revenue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Snowflake Marketplace apps with ACN implementation services bundled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$20M+ new revenue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BG Seller Incentives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Commission kicker for BG sellers who include Snowflake in deals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 Snowflake inclusion 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83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Ecosystem War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Joint pipeline review with all BG leads + Snowflake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 pipeline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Agentic AI &amp; Cortex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Building the Enterprise AI Operating System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Cortex + AI Refinery 2.0: The Enterprise Agent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1050000"/>
            <a:ext cx="4200000" cy="700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00000" y="110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Orchestration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137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Multi-agent workflows, task routing, human-in-the-loop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000" y="1830000"/>
            <a:ext cx="4200000" cy="7000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0000" y="188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Cortex AI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00" y="21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LLM functions, embeddings, search, classification, summarization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000" y="2610000"/>
            <a:ext cx="4200000" cy="7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00000" y="266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293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Governed data, Iceberg, Dynamic Tables, Streams &amp;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000" y="3390000"/>
            <a:ext cx="4200000" cy="700000"/>
          </a:xfrm>
          <a:prstGeom prst="round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00000" y="344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 &amp;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00" y="371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Horizon policies, RBAC, data masking, audit trails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00" y="70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Top 10 Agent Use Cases for FY27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700000" y="1000000"/>
          <a:ext cx="42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000"/>
                <a:gridCol w="1050000"/>
                <a:gridCol w="1050000"/>
                <a:gridCol w="1050000"/>
              </a:tblGrid>
              <a:tr h="34545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Use Case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Deal Size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Claims Processing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$3-5M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Clinical Trial Analytics Agent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Life Sciences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$2-4M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Supply Chain Optimizer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Manufacturing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Customer 360 Agent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Retail/CPG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Regulatory Compliance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FSI/Pharma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Energy Grid Forecasting Agent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Utilities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HR &amp; Talent Intelligence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Marketing Mix Optimizer Agent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Retail/Media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Fraud Detection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$3-5M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 Intelligence Agent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Regional Execution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Americas | EMEA | APJ — Tailored for Local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Regional Revenue &amp; Growth Targets — FY27-28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0000" y="750000"/>
          <a:ext cx="87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1450000"/>
                <a:gridCol w="1450000"/>
                <a:gridCol w="1450000"/>
                <a:gridCol w="1450000"/>
                <a:gridCol w="1450000"/>
              </a:tblGrid>
              <a:tr h="24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 Actual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Growth %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Plays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Americas (inc. Federal)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27% / 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Diamond saturation, Migration wave, FSI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EMEA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56% / 43%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Industry-first GTM, Migration Factory, NatWest replication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Asia Pacific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71% / 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ANZ acceleration, Japan expansion, Mining vertical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$812M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$1,120M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 / 34%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21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SNOW Metrics Aligned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00" y="2400000"/>
          <a:ext cx="87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00"/>
                <a:gridCol w="2175000"/>
                <a:gridCol w="2175000"/>
                <a:gridCol w="2175000"/>
              </a:tblGrid>
              <a:tr h="25714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 Actual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Case Go-Lives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Consumption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~$24M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Diamond Accounts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New Certifications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Certified Practitioners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0000" y="4400000"/>
            <a:ext cx="8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Creative: Regional "Lightning Strike" Campaigns — Each region gets a quarterly blitz week with exec sponsorship, dedicated pipeline generation, and account activation sprints.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Americas Plan — From $550M to $900M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" y="700000"/>
          <a:ext cx="8944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666"/>
                <a:gridCol w="1490666"/>
                <a:gridCol w="1490666"/>
                <a:gridCol w="1490666"/>
                <a:gridCol w="1490666"/>
                <a:gridCol w="1490670"/>
              </a:tblGrid>
              <a:tr h="275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 Bookings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Accounts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Solution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$270M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JPMC, AIG, Truist, BNY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Claims AI, Fraud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Comms Media Tech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Disney, AT&amp;T, Comcast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Relevance Engine 2.0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Products (RCG+LS)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Pfizer, Marriott, Mars, 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Data Clouds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&amp; Public Svc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UHG, Centene, BCBS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CSIG, Clinical AI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Vistra, Halliburton, PPL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Energy Grid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Federal / SLED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CMS, DoD, Courts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GovCloud, FedGenius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31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Americas Creative Plays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00" y="3400000"/>
          <a:ext cx="87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00"/>
                <a:gridCol w="2175000"/>
                <a:gridCol w="2175000"/>
                <a:gridCol w="2175000"/>
              </a:tblGrid>
              <a:tr h="30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Q1-Q2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Q3-Q4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Diamond Sprint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Dedicated 8-week activation for top 30 inactive Diamonds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Wave 1: 15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Wave 2: 15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Roadshows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6-city tour: FSI, MFG, LS, RCG, Energy, Federal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NYC, Chicago, SF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Dallas, Atlanta, DC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Client Innovation Labs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Permanent AI lab experiences at 3 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NYC (launch)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SF, Chicago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Executive Dinner Series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C-suite dinners themed around Agentic AI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events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events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EMEA Plan — From $180M to $400M (2.2x Growth)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" y="700000"/>
          <a:ext cx="8944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666"/>
                <a:gridCol w="1490666"/>
                <a:gridCol w="1490666"/>
                <a:gridCol w="1490666"/>
                <a:gridCol w="1490666"/>
                <a:gridCol w="1490670"/>
              </a:tblGrid>
              <a:tr h="25714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Unit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Must-Win Accounts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 Play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NatWest, HSBC, AstraZeneca, GSK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Factory, FSI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ASG (DACH)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Siemens, BMW, Merck, Allianz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MFG Digital Twin, SAP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Gallia (France)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Credit Agricole, Sanofi, Pernod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FSI, LS Clinical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Iberia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Santander, Mapfre, Amadeus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Migration, FSI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Nordics + Italy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Ericsson, Stellantis, Nordea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Telco, Industrial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EMEA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27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EMEA Creative Acceleration Plays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00" y="3000000"/>
          <a:ext cx="87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</a:tblGrid>
              <a:tr h="30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"NatWest Playbook" Replication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Package NatWest SAS migration as repeatable offering for 10 EMEA FSI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$50M+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EMEA AI Governance Summit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Position ACN+SNOW as EU AI Act compliance leaders with Horizon governance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C-suite credibility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Language Agent Demos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Cortex agents in German, French, Spanish for local market resonance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Pan-European Migration Factory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Centralized migration COE in Bangalore + local delivery pods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 cost reduction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SnowDays Europe Tour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10-city enablement tour targeting ACN delivery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500+ enabled consultants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APJ Plan — From $82M to $200M (2.4x Growth)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" y="700000"/>
          <a:ext cx="8944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666"/>
                <a:gridCol w="1490666"/>
                <a:gridCol w="1490666"/>
                <a:gridCol w="1490666"/>
                <a:gridCol w="1490666"/>
                <a:gridCol w="1490670"/>
              </a:tblGrid>
              <a:tr h="2333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Sub-Region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Must-Win Accounts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BHP, CBA, NAB, Coles, Qantas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Mining, FSI,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Japan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NTT, Toyota, Sony, Mitsubishi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MFG, Telco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SEA +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DBS, Singtel, Tata, Reliance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FSI, Telco,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Greater China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Lenovo, Huawei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Tech, MFG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33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APJ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23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APJ Creative Growth Plays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00" y="2600000"/>
          <a:ext cx="87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2900000"/>
                <a:gridCol w="2900000"/>
              </a:tblGrid>
              <a:tr h="30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Mining Data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Purpose-built solution for BHP/Rio Tinto: ore grade prediction, safety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$50M vertical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Japan Enterprise Blitz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Dedicated Japanese-speaking team, localized solutions, keiretsu-model selling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2x Japan revenue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APJ Gen AI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Permanent innovation centers in Sydney, Tokyo, Singapore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Hands-on client experiences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Cross-border Data Sharing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Snowflake data sharing for APAC supply chains (ASEAN corridor)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Unique value prop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Accenture Song + Snowflake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Combined marketing analytics for APAC retail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$15M new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COE &amp; Practice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Building the World's Largest Snowflake Practice — 15,000+ Practitioners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Global COE Evolution — From Practice to Business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700000"/>
            <a:ext cx="8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  <a:latin typeface="Calibri"/>
              </a:defRPr>
            </a:pPr>
            <a:r>
              <a:t>The Snowflake Practice is on track to become an Accenture Business Group in CY2027 — joining AWS, Azure, SAP, and Salesforce as a top-5 technology alliance.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00" y="1200000"/>
          <a:ext cx="87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00"/>
                <a:gridCol w="1740000"/>
                <a:gridCol w="1740000"/>
                <a:gridCol w="1740000"/>
                <a:gridCol w="1740000"/>
              </a:tblGrid>
              <a:tr h="25714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 State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 Required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Certified Practitioners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5,000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8,000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12,000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programs + cert subsidies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Delivery Centers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(US, India, UK)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(+Germany, Australia, Japan)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(+Singapore, Brazil)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$5M infra investment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Solutions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 solutions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 solutions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 solutions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$8M solution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Full-time COE Staff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 (global)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 (global)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 (global)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$12M headcount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per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Efficiency +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AI Specialists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dedicated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 certified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 certified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cert track needed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0000" y="32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Creative: "Snowflake Academy"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" y="3500000"/>
            <a:ext cx="8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Launch a dedicated Snowflake Academy within Accenture:</a:t>
            </a:r>
            <a:br/>
            <a:r>
              <a:t>  - 12-week immersive bootcamp for top talent (200 graduates per quarter)</a:t>
            </a:r>
            <a:br/>
            <a:r>
              <a:t>  - Specialization tracks: Data Engineering, AI/ML, Migrations, Industry Solutions</a:t>
            </a:r>
            <a:br/>
            <a:r>
              <a:t>  - "Earn while you learn" model with guaranteed project placement</a:t>
            </a:r>
            <a:br/>
            <a:r>
              <a:t>  - Joint faculty: Snowflake engineers + Accenture delivery leaders</a:t>
            </a:r>
            <a:br/>
            <a:r>
              <a:t>  - Certification guarantee: 95%+ pass rate target</a:t>
            </a:r>
            <a:br/>
            <a:r>
              <a:t>  - Alumni network becomes the backbone of the global practice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Waterfall to $1.5B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The Math Behind Sustaining and Doubling the $1B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09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Revenue Bridge: $812M --&gt; $1.12B --&gt; $1.5B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0000" y="700000"/>
          <a:ext cx="87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1450000"/>
                <a:gridCol w="1450000"/>
                <a:gridCol w="1450000"/>
                <a:gridCol w="1450000"/>
                <a:gridCol w="1450000"/>
              </a:tblGrid>
              <a:tr h="27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Source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 Base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Add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Total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Add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Total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Existing Account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$892M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$992M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Mega-Wave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+$120M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AI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Diamond Activation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+$60M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+$80M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Data Clouds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Ecosystem Flywheel (Po3)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+$28M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+$42M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 / Attrition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-$20M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-$20M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-$32M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-$32M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+$308M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$1,120M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+$380M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36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SNOW Contribution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00" y="3900000"/>
          <a:ext cx="870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00"/>
                <a:gridCol w="2175000"/>
                <a:gridCol w="2175000"/>
                <a:gridCol w="2175000"/>
              </a:tblGrid>
              <a:tr h="20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Plan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Plan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$110M (+53%)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$160M (+45%)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Consumption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~$24M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$45M (+88%)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$75M (+67%)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SNOW 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$235M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Cases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350 (+60%)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 (+43%)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FY27-28 Top Partnership Priorities</a:t>
            </a:r>
          </a:p>
        </p:txBody>
      </p:sp>
      <p:sp>
        <p:nvSpPr>
          <p:cNvPr id="3" name="Oval 2"/>
          <p:cNvSpPr/>
          <p:nvPr/>
        </p:nvSpPr>
        <p:spPr>
          <a:xfrm>
            <a:off x="300000" y="900000"/>
            <a:ext cx="500000" cy="5000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" y="950000"/>
            <a:ext cx="7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Sustain $1B+ and reach $1.5B by end of CY2028, becoming the first and largest partner alliance in the Data &amp; AI industry.</a:t>
            </a:r>
          </a:p>
        </p:txBody>
      </p:sp>
      <p:sp>
        <p:nvSpPr>
          <p:cNvPr id="5" name="Oval 4"/>
          <p:cNvSpPr/>
          <p:nvPr/>
        </p:nvSpPr>
        <p:spPr>
          <a:xfrm>
            <a:off x="300000" y="1800000"/>
            <a:ext cx="500000" cy="50000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000" y="1850000"/>
            <a:ext cx="7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Scale Agentic AI: Deploy Cortex-powered agents across 150+ accounts via AI Refinery 2.0, targeting $250M pipeline.</a:t>
            </a:r>
          </a:p>
        </p:txBody>
      </p:sp>
      <p:sp>
        <p:nvSpPr>
          <p:cNvPr id="7" name="Oval 6"/>
          <p:cNvSpPr/>
          <p:nvPr/>
        </p:nvSpPr>
        <p:spPr>
          <a:xfrm>
            <a:off x="300000" y="2700000"/>
            <a:ext cx="500000" cy="50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00" y="2750000"/>
            <a:ext cx="7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Industrialize Migrations: Execute $300M Migration Mega-Wave targeting Teradata, SAS, Oracle, Hadoop, and SAP BW workloads.</a:t>
            </a:r>
          </a:p>
        </p:txBody>
      </p:sp>
      <p:sp>
        <p:nvSpPr>
          <p:cNvPr id="9" name="Oval 8"/>
          <p:cNvSpPr/>
          <p:nvPr/>
        </p:nvSpPr>
        <p:spPr>
          <a:xfrm>
            <a:off x="300000" y="3600000"/>
            <a:ext cx="500000" cy="5000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00" y="3650000"/>
            <a:ext cx="7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Deepen Ecosystem: Evolve Power of 3 into systematic flywheel with all ACN Business Groups (AWS, Azure, SAP, SFDC, GCP).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00000"/>
            <a:ext cx="9144000" cy="8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0000" y="2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Governance &amp; Mobilization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9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Operating Rhythm, KPIs &amp; Accountability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6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Section 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Partnership Operating Rhythm &amp; Governance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0000" y="700000"/>
          <a:ext cx="870000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00"/>
                <a:gridCol w="1740000"/>
                <a:gridCol w="1740000"/>
                <a:gridCol w="1740000"/>
                <a:gridCol w="1740000"/>
              </a:tblGrid>
              <a:tr h="24285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Cadence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Forum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Attendees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428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War 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Regional PDMs, Sales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Deal progression, blockers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scorecard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8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Bi-Weekly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Case Acceleration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COE Pods, PSEs, Industry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case deployment, go-lives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case tracker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428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GTM Leads, Finance,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tracking,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8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QBR + Exec Steering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ELT Sponsors (both sides)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Strategy, investments, escalations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 dashboard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4285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Bi-Annual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Strategic Planning Summit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CEOs, CROs, 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 planning,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Joint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85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Partnership Innovation Day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 100 leaders + clients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Innovation showcase, commitments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 plan refresh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26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KPI Scoreboard — Measured Weekly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00" y="2900000"/>
          <a:ext cx="87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00"/>
                <a:gridCol w="1740000"/>
                <a:gridCol w="1740000"/>
                <a:gridCol w="1740000"/>
                <a:gridCol w="1740000"/>
              </a:tblGrid>
              <a:tr h="250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 Category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Target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ACN Services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$1,120M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 actuals vs.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Global Alliance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Qualified Pipeline Coverage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 target ($3.36B)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 pipeline review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Regional GTM Leads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Snowflake TACV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 TACV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Diamond Account Penetration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57% (175/307)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activation report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Sales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Go-Live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 go-live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COE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Certifications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New Certifications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cert report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Enablement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Joint Client Satisfaction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&gt;70 NPS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Joint Investment Ask — FY27-28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0000" y="700000"/>
          <a:ext cx="87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00"/>
                <a:gridCol w="1740000"/>
                <a:gridCol w="1740000"/>
                <a:gridCol w="1740000"/>
                <a:gridCol w="1740000"/>
              </a:tblGrid>
              <a:tr h="2444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 Area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FY27 Ask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FY28 Ask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ROI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AI Factory (Solution Dev + GTM)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25x ($325M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Data Cloud Development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20x ($200M pipeline)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Factory Tooling +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37x ($300M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COE &amp; Practice Scaling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(capability build)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Marketing &amp; Demand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15x ($105M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Executive Events &amp; Innovation Labs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20x ($100M pipeline)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444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Enablement &amp; Certifications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(capability 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44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INVESTMENT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$62M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Overall: 22x ROI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0000" y="3100000"/>
            <a:ext cx="8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Funding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" y="3400000"/>
            <a:ext cx="8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Proposed 50/50 split between Snowflake and Accenture, with milestone-based releases:</a:t>
            </a:r>
            <a:br/>
            <a:r>
              <a:t>  - 40% upfront on program approval</a:t>
            </a:r>
            <a:br/>
            <a:r>
              <a:t>  - 30% on H1 milestones (pipeline creation, use case go-lives, certifications)</a:t>
            </a:r>
            <a:br/>
            <a:r>
              <a:t>  - 30% on H2 milestones (revenue attainment, account activation)</a:t>
            </a:r>
            <a:br/>
            <a:br/>
            <a:r>
              <a:t>Additional leverage: Snowflake MDF, AWS/Azure co-funding for Power of 3 plays, ACN internal practice development funds, and client co-investment for custom solutions.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0000" y="1000000"/>
            <a:ext cx="81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$1B Milestone to Market Dominance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00000"/>
            <a:ext cx="81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9B5E8"/>
                </a:solidFill>
                <a:latin typeface="Calibri"/>
              </a:defRPr>
            </a:pPr>
            <a:r>
              <a:t>The First Partnership to Define the</a:t>
            </a:r>
            <a:br/>
            <a:r>
              <a:t>Data &amp; AI Industry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0000" y="2200000"/>
            <a:ext cx="41440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000000" y="2400000"/>
            <a:ext cx="5144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$1.5B by CY2028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2680000"/>
            <a:ext cx="5144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200+ Diamond Accounts Activated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2960000"/>
            <a:ext cx="5144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500+ Use Cases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3240000"/>
            <a:ext cx="5144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12,000+ Certified Practitioners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0" y="3520000"/>
            <a:ext cx="5144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6 Industry Data Clouds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000" y="3800000"/>
            <a:ext cx="5144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150+ Agentic AI Deployments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500000"/>
            <a:ext cx="814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Confidential | March 2026 | Snowflake x Accenture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